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96920" y="1989622"/>
            <a:ext cx="6696132" cy="6307756"/>
          </a:xfrm>
          <a:custGeom>
            <a:avLst/>
            <a:gdLst/>
            <a:ahLst/>
            <a:cxnLst/>
            <a:rect r="r" b="b" t="t" l="l"/>
            <a:pathLst>
              <a:path h="6307756" w="6696132">
                <a:moveTo>
                  <a:pt x="0" y="0"/>
                </a:moveTo>
                <a:lnTo>
                  <a:pt x="6696133" y="0"/>
                </a:lnTo>
                <a:lnTo>
                  <a:pt x="6696133" y="6307756"/>
                </a:lnTo>
                <a:lnTo>
                  <a:pt x="0" y="6307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4947" y="3387724"/>
            <a:ext cx="8115300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CƠ SỞ DỮ LIỆU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1131" y="4962525"/>
            <a:ext cx="641383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MYSQL VÀ SQLIT</a:t>
            </a:r>
            <a:r>
              <a:rPr lang="en-US" sz="6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816975"/>
            <a:ext cx="8115300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 VIỆC THỰC TẬP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NGƯỜI TRÌNH BÀY: NGUYỄN HOÀNG NGHĨA (220996)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7898" y="1120578"/>
            <a:ext cx="106022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259300" y="0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10137" y="2515674"/>
            <a:ext cx="5816113" cy="5255651"/>
          </a:xfrm>
          <a:custGeom>
            <a:avLst/>
            <a:gdLst/>
            <a:ahLst/>
            <a:cxnLst/>
            <a:rect r="r" b="b" t="t" l="l"/>
            <a:pathLst>
              <a:path h="5255651" w="5816113">
                <a:moveTo>
                  <a:pt x="0" y="0"/>
                </a:moveTo>
                <a:lnTo>
                  <a:pt x="5816113" y="0"/>
                </a:lnTo>
                <a:lnTo>
                  <a:pt x="5816113" y="5255652"/>
                </a:lnTo>
                <a:lnTo>
                  <a:pt x="0" y="5255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1750" y="3326947"/>
            <a:ext cx="765005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NỘI DUNG CHÍNH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1750" y="4575628"/>
            <a:ext cx="7018919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Tổng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quan về MySQL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Tổng quan về SQLite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So sánh MySQL và SQLite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Ưu điểm và nhược điểm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Trường hợp sử dụng thực tế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4208" y="2405610"/>
            <a:ext cx="6812791" cy="5475781"/>
          </a:xfrm>
          <a:custGeom>
            <a:avLst/>
            <a:gdLst/>
            <a:ahLst/>
            <a:cxnLst/>
            <a:rect r="r" b="b" t="t" l="l"/>
            <a:pathLst>
              <a:path h="5475781" w="6812791">
                <a:moveTo>
                  <a:pt x="0" y="0"/>
                </a:moveTo>
                <a:lnTo>
                  <a:pt x="6812791" y="0"/>
                </a:lnTo>
                <a:lnTo>
                  <a:pt x="6812791" y="5475780"/>
                </a:lnTo>
                <a:lnTo>
                  <a:pt x="0" y="547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13857" y="3326947"/>
            <a:ext cx="7569935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MYSQL LÀ GÌ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03793" y="4575628"/>
            <a:ext cx="9054588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MySQ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 là hệ quản trị cơ sở dữ liệu quan hệ (Relational Database Management System - RDBMS) sử dụng ngôn ngữ SQL để quản lý và truy vấn dữ liệu.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MySQL hoạt động theo mô hình Client – Server, trong đó dữ liệu được lưu trữ trong server database và các ứng dụng có thể kết nối để đọc hoặc ghi dữ liệu.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4208" y="2405610"/>
            <a:ext cx="6812791" cy="5475781"/>
          </a:xfrm>
          <a:custGeom>
            <a:avLst/>
            <a:gdLst/>
            <a:ahLst/>
            <a:cxnLst/>
            <a:rect r="r" b="b" t="t" l="l"/>
            <a:pathLst>
              <a:path h="5475781" w="6812791">
                <a:moveTo>
                  <a:pt x="0" y="0"/>
                </a:moveTo>
                <a:lnTo>
                  <a:pt x="6812791" y="0"/>
                </a:lnTo>
                <a:lnTo>
                  <a:pt x="6812791" y="5475780"/>
                </a:lnTo>
                <a:lnTo>
                  <a:pt x="0" y="547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13857" y="3326947"/>
            <a:ext cx="7569935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MYSQL LÀ GÌ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03793" y="4575628"/>
            <a:ext cx="9054588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MySQ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 thường được sử dụng trong các hệ thống: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Website và Web Application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Backend API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Hệ thống quản lý dữ liệu lớn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Hệ thống có nhiều người dùng truy cập đồng thời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20122" y="2403278"/>
            <a:ext cx="6496216" cy="5480444"/>
          </a:xfrm>
          <a:custGeom>
            <a:avLst/>
            <a:gdLst/>
            <a:ahLst/>
            <a:cxnLst/>
            <a:rect r="r" b="b" t="t" l="l"/>
            <a:pathLst>
              <a:path h="5480444" w="6496216">
                <a:moveTo>
                  <a:pt x="0" y="0"/>
                </a:moveTo>
                <a:lnTo>
                  <a:pt x="6496216" y="0"/>
                </a:lnTo>
                <a:lnTo>
                  <a:pt x="6496216" y="5480444"/>
                </a:lnTo>
                <a:lnTo>
                  <a:pt x="0" y="548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71662" y="3216996"/>
            <a:ext cx="580768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ĐẶC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ĐIỂ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 CỦA MYSQL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1662" y="5018954"/>
            <a:ext cx="7438485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Một số đặc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điểm nổi bật của MySQL: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Hoạt động theo mô hình client-server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Hỗ trợ nhiều người dùng truy cập đồng thời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Có khả năng quản lý dữ liệu lớn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Hỗ trợ transaction và bảo mật dữ liệu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Phổ biến trong các hệ thống web backend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20122" y="2403278"/>
            <a:ext cx="6496216" cy="5480444"/>
          </a:xfrm>
          <a:custGeom>
            <a:avLst/>
            <a:gdLst/>
            <a:ahLst/>
            <a:cxnLst/>
            <a:rect r="r" b="b" t="t" l="l"/>
            <a:pathLst>
              <a:path h="5480444" w="6496216">
                <a:moveTo>
                  <a:pt x="0" y="0"/>
                </a:moveTo>
                <a:lnTo>
                  <a:pt x="6496216" y="0"/>
                </a:lnTo>
                <a:lnTo>
                  <a:pt x="6496216" y="5480444"/>
                </a:lnTo>
                <a:lnTo>
                  <a:pt x="0" y="548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71662" y="3216996"/>
            <a:ext cx="580768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ĐẶC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ĐIỂ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 CỦA MYSQL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1662" y="5018954"/>
            <a:ext cx="7438485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MySQL thường được sử dụng cùng các công nghệ như: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HP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Nod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eJS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Java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7898" y="1120578"/>
            <a:ext cx="10742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83464" y="2633330"/>
            <a:ext cx="15121072" cy="5020341"/>
            <a:chOff x="0" y="0"/>
            <a:chExt cx="20161430" cy="66937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67235" cy="6693788"/>
            </a:xfrm>
            <a:custGeom>
              <a:avLst/>
              <a:gdLst/>
              <a:ahLst/>
              <a:cxnLst/>
              <a:rect r="r" b="b" t="t" l="l"/>
              <a:pathLst>
                <a:path h="6693788" w="8367235">
                  <a:moveTo>
                    <a:pt x="0" y="0"/>
                  </a:moveTo>
                  <a:lnTo>
                    <a:pt x="8367235" y="0"/>
                  </a:lnTo>
                  <a:lnTo>
                    <a:pt x="8367235" y="6693788"/>
                  </a:lnTo>
                  <a:lnTo>
                    <a:pt x="0" y="6693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90776" y="750802"/>
              <a:ext cx="9770653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SQLIT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 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LÀ GÌ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390776" y="2137426"/>
              <a:ext cx="9358559" cy="2903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SQ</a:t>
              </a: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Lite là hệ quản trị cơ sở dữ liệu quan hệ dạng embedded database.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Khác với MySQL, SQLite không cần server riêng. Toàn bộ dữ liệu được lưu trong một file database duy nhất.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07898" y="1120578"/>
            <a:ext cx="106022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83464" y="2633330"/>
            <a:ext cx="15121072" cy="5020341"/>
            <a:chOff x="0" y="0"/>
            <a:chExt cx="20161430" cy="66937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67235" cy="6693788"/>
            </a:xfrm>
            <a:custGeom>
              <a:avLst/>
              <a:gdLst/>
              <a:ahLst/>
              <a:cxnLst/>
              <a:rect r="r" b="b" t="t" l="l"/>
              <a:pathLst>
                <a:path h="6693788" w="8367235">
                  <a:moveTo>
                    <a:pt x="0" y="0"/>
                  </a:moveTo>
                  <a:lnTo>
                    <a:pt x="8367235" y="0"/>
                  </a:lnTo>
                  <a:lnTo>
                    <a:pt x="8367235" y="6693788"/>
                  </a:lnTo>
                  <a:lnTo>
                    <a:pt x="0" y="6693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90776" y="750802"/>
              <a:ext cx="9770653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SQLIT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 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LÀ GÌ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390776" y="2137426"/>
              <a:ext cx="9358559" cy="2903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SQ</a:t>
              </a: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Lite thường được sử dụng trong: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Ứng dụng mobile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Ứng dụng desktop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Ứng</a:t>
              </a: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 dụng offline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Hệ thống lưu trữ dữ liệu cục bộ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7777" y="2648295"/>
            <a:ext cx="5050900" cy="4990410"/>
          </a:xfrm>
          <a:custGeom>
            <a:avLst/>
            <a:gdLst/>
            <a:ahLst/>
            <a:cxnLst/>
            <a:rect r="r" b="b" t="t" l="l"/>
            <a:pathLst>
              <a:path h="4990410" w="5050900">
                <a:moveTo>
                  <a:pt x="0" y="0"/>
                </a:moveTo>
                <a:lnTo>
                  <a:pt x="5050900" y="0"/>
                </a:lnTo>
                <a:lnTo>
                  <a:pt x="5050900" y="4990410"/>
                </a:lnTo>
                <a:lnTo>
                  <a:pt x="0" y="499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216996"/>
            <a:ext cx="989907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ĐẶC ĐIỂM CỦA SQLITE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24898" y="4350758"/>
            <a:ext cx="7951287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Một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số đặc điểm nổi bật của SQLite: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Không cần cài đặt server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Database được lưu trong một file duy nhất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Dễ triển khai và cấu hình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Phù hợp cho ứng dụng nhỏ hoặc local storage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Hiệu năng tốt với dữ liệu nhỏ và trung bình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61776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7777" y="2648295"/>
            <a:ext cx="5050900" cy="4990410"/>
          </a:xfrm>
          <a:custGeom>
            <a:avLst/>
            <a:gdLst/>
            <a:ahLst/>
            <a:cxnLst/>
            <a:rect r="r" b="b" t="t" l="l"/>
            <a:pathLst>
              <a:path h="4990410" w="5050900">
                <a:moveTo>
                  <a:pt x="0" y="0"/>
                </a:moveTo>
                <a:lnTo>
                  <a:pt x="5050900" y="0"/>
                </a:lnTo>
                <a:lnTo>
                  <a:pt x="5050900" y="4990410"/>
                </a:lnTo>
                <a:lnTo>
                  <a:pt x="0" y="499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216996"/>
            <a:ext cx="989907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ĐẶC ĐIỂM CỦA SQLITE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24898" y="4350758"/>
            <a:ext cx="7951287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SQLite thường được dùng trong: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Android apps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iOS apps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Desktop applications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1975" y="2051151"/>
            <a:ext cx="1290404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SÁ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MYSQL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VÀ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SQLITE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95336" y="3260775"/>
            <a:ext cx="11764780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MySQ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 và SQLite đều là hệ quản trị cơ sở dữ liệu quan hệ, tuy nhiên chúng có kiến trúc khác nhau.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E60012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sử dụng mô hình </a:t>
            </a:r>
            <a:r>
              <a:rPr lang="en-US" sz="2499">
                <a:solidFill>
                  <a:srgbClr val="E60012"/>
                </a:solidFill>
                <a:latin typeface="Poppins"/>
                <a:ea typeface="Poppins"/>
                <a:cs typeface="Poppins"/>
                <a:sym typeface="Poppins"/>
              </a:rPr>
              <a:t>client-server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, phù hợp cho các hệ thống lớn và nhiều người dùng truy cập đồng thời.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97B2"/>
                </a:solidFill>
                <a:latin typeface="Poppins"/>
                <a:ea typeface="Poppins"/>
                <a:cs typeface="Poppins"/>
                <a:sym typeface="Poppins"/>
              </a:rPr>
              <a:t>SQLite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là </a:t>
            </a:r>
            <a:r>
              <a:rPr lang="en-US" sz="2499">
                <a:solidFill>
                  <a:srgbClr val="0097B2"/>
                </a:solidFill>
                <a:latin typeface="Poppins"/>
                <a:ea typeface="Poppins"/>
                <a:cs typeface="Poppins"/>
                <a:sym typeface="Poppins"/>
              </a:rPr>
              <a:t>database nhúng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, phù hợp cho các ứng dụng nhỏ, ứng dụng offline hoặc lưu trữ dữ liệu local.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E60012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thường dùng cho </a:t>
            </a:r>
            <a:r>
              <a:rPr lang="en-US" sz="2499">
                <a:solidFill>
                  <a:srgbClr val="E60012"/>
                </a:solidFill>
                <a:latin typeface="Poppins"/>
                <a:ea typeface="Poppins"/>
                <a:cs typeface="Poppins"/>
                <a:sym typeface="Poppins"/>
              </a:rPr>
              <a:t>backend server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, trong khi </a:t>
            </a:r>
            <a:r>
              <a:rPr lang="en-US" sz="2499">
                <a:solidFill>
                  <a:srgbClr val="0097B2"/>
                </a:solidFill>
                <a:latin typeface="Poppins"/>
                <a:ea typeface="Poppins"/>
                <a:cs typeface="Poppins"/>
                <a:sym typeface="Poppins"/>
              </a:rPr>
              <a:t>SQLite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thường dùng trong </a:t>
            </a:r>
            <a:r>
              <a:rPr lang="en-US" sz="2499">
                <a:solidFill>
                  <a:srgbClr val="0097B2"/>
                </a:solidFill>
                <a:latin typeface="Poppins"/>
                <a:ea typeface="Poppins"/>
                <a:cs typeface="Poppins"/>
                <a:sym typeface="Poppins"/>
              </a:rPr>
              <a:t>mobile hoặc desktop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40878" y="5038730"/>
            <a:ext cx="4119238" cy="3216298"/>
            <a:chOff x="0" y="0"/>
            <a:chExt cx="1084902" cy="847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4902" cy="847091"/>
            </a:xfrm>
            <a:custGeom>
              <a:avLst/>
              <a:gdLst/>
              <a:ahLst/>
              <a:cxnLst/>
              <a:rect r="r" b="b" t="t" l="l"/>
              <a:pathLst>
                <a:path h="847091" w="1084902">
                  <a:moveTo>
                    <a:pt x="56384" y="0"/>
                  </a:moveTo>
                  <a:lnTo>
                    <a:pt x="1028519" y="0"/>
                  </a:lnTo>
                  <a:cubicBezTo>
                    <a:pt x="1059658" y="0"/>
                    <a:pt x="1084902" y="25244"/>
                    <a:pt x="1084902" y="56384"/>
                  </a:cubicBezTo>
                  <a:lnTo>
                    <a:pt x="1084902" y="790707"/>
                  </a:lnTo>
                  <a:cubicBezTo>
                    <a:pt x="1084902" y="821847"/>
                    <a:pt x="1059658" y="847091"/>
                    <a:pt x="1028519" y="847091"/>
                  </a:cubicBezTo>
                  <a:lnTo>
                    <a:pt x="56384" y="847091"/>
                  </a:lnTo>
                  <a:cubicBezTo>
                    <a:pt x="25244" y="847091"/>
                    <a:pt x="0" y="821847"/>
                    <a:pt x="0" y="790707"/>
                  </a:cubicBezTo>
                  <a:lnTo>
                    <a:pt x="0" y="56384"/>
                  </a:lnTo>
                  <a:cubicBezTo>
                    <a:pt x="0" y="25244"/>
                    <a:pt x="25244" y="0"/>
                    <a:pt x="56384" y="0"/>
                  </a:cubicBezTo>
                  <a:close/>
                </a:path>
              </a:pathLst>
            </a:custGeom>
            <a:solidFill>
              <a:srgbClr val="DCDDD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084902" cy="90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35865" y="5038730"/>
            <a:ext cx="4119238" cy="3216298"/>
            <a:chOff x="0" y="0"/>
            <a:chExt cx="1215163" cy="9487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5163" cy="948798"/>
            </a:xfrm>
            <a:custGeom>
              <a:avLst/>
              <a:gdLst/>
              <a:ahLst/>
              <a:cxnLst/>
              <a:rect r="r" b="b" t="t" l="l"/>
              <a:pathLst>
                <a:path h="948798" w="1215163">
                  <a:moveTo>
                    <a:pt x="56384" y="0"/>
                  </a:moveTo>
                  <a:lnTo>
                    <a:pt x="1158779" y="0"/>
                  </a:lnTo>
                  <a:cubicBezTo>
                    <a:pt x="1189919" y="0"/>
                    <a:pt x="1215163" y="25244"/>
                    <a:pt x="1215163" y="56384"/>
                  </a:cubicBezTo>
                  <a:lnTo>
                    <a:pt x="1215163" y="892415"/>
                  </a:lnTo>
                  <a:cubicBezTo>
                    <a:pt x="1215163" y="923555"/>
                    <a:pt x="1189919" y="948798"/>
                    <a:pt x="1158779" y="948798"/>
                  </a:cubicBezTo>
                  <a:lnTo>
                    <a:pt x="56384" y="948798"/>
                  </a:lnTo>
                  <a:cubicBezTo>
                    <a:pt x="25244" y="948798"/>
                    <a:pt x="0" y="923555"/>
                    <a:pt x="0" y="892415"/>
                  </a:cubicBezTo>
                  <a:lnTo>
                    <a:pt x="0" y="56384"/>
                  </a:lnTo>
                  <a:cubicBezTo>
                    <a:pt x="0" y="25244"/>
                    <a:pt x="25244" y="0"/>
                    <a:pt x="56384" y="0"/>
                  </a:cubicBezTo>
                  <a:close/>
                </a:path>
              </a:pathLst>
            </a:custGeom>
            <a:solidFill>
              <a:srgbClr val="DCDDD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15163" cy="1005948"/>
            </a:xfrm>
            <a:prstGeom prst="rect">
              <a:avLst/>
            </a:prstGeom>
          </p:spPr>
          <p:txBody>
            <a:bodyPr anchor="ctr" rtlCol="false" tIns="45354" lIns="45354" bIns="45354" rIns="45354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479897" y="2246621"/>
            <a:ext cx="2162505" cy="2049937"/>
          </a:xfrm>
          <a:custGeom>
            <a:avLst/>
            <a:gdLst/>
            <a:ahLst/>
            <a:cxnLst/>
            <a:rect r="r" b="b" t="t" l="l"/>
            <a:pathLst>
              <a:path h="2049937" w="2162505">
                <a:moveTo>
                  <a:pt x="0" y="0"/>
                </a:moveTo>
                <a:lnTo>
                  <a:pt x="2162505" y="0"/>
                </a:lnTo>
                <a:lnTo>
                  <a:pt x="2162505" y="2049936"/>
                </a:lnTo>
                <a:lnTo>
                  <a:pt x="0" y="2049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826125" y="5269940"/>
            <a:ext cx="33476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NHƯỢC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ĐIỂM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8152" y="5820457"/>
            <a:ext cx="366469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Cầ</a:t>
            </a: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 cài server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Cấu hình phức tạp hơn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121540" y="5269940"/>
            <a:ext cx="35478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ƯU ĐIỂM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63139" y="5820457"/>
            <a:ext cx="366469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Hỗ</a:t>
            </a: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trợ nhiều người dùng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Phù hợp hệ thống lớn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Bảo mật tốt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14118" y="2736884"/>
            <a:ext cx="1155211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ƯU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ĐIỂM VÀ NHƯỢC ĐIỂM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49720" y="3822719"/>
            <a:ext cx="2300976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5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YSQL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7898" y="1120578"/>
            <a:ext cx="1100624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40878" y="5038730"/>
            <a:ext cx="4119238" cy="3216298"/>
            <a:chOff x="0" y="0"/>
            <a:chExt cx="1084902" cy="847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4902" cy="847091"/>
            </a:xfrm>
            <a:custGeom>
              <a:avLst/>
              <a:gdLst/>
              <a:ahLst/>
              <a:cxnLst/>
              <a:rect r="r" b="b" t="t" l="l"/>
              <a:pathLst>
                <a:path h="847091" w="1084902">
                  <a:moveTo>
                    <a:pt x="56384" y="0"/>
                  </a:moveTo>
                  <a:lnTo>
                    <a:pt x="1028519" y="0"/>
                  </a:lnTo>
                  <a:cubicBezTo>
                    <a:pt x="1059658" y="0"/>
                    <a:pt x="1084902" y="25244"/>
                    <a:pt x="1084902" y="56384"/>
                  </a:cubicBezTo>
                  <a:lnTo>
                    <a:pt x="1084902" y="790707"/>
                  </a:lnTo>
                  <a:cubicBezTo>
                    <a:pt x="1084902" y="821847"/>
                    <a:pt x="1059658" y="847091"/>
                    <a:pt x="1028519" y="847091"/>
                  </a:cubicBezTo>
                  <a:lnTo>
                    <a:pt x="56384" y="847091"/>
                  </a:lnTo>
                  <a:cubicBezTo>
                    <a:pt x="25244" y="847091"/>
                    <a:pt x="0" y="821847"/>
                    <a:pt x="0" y="790707"/>
                  </a:cubicBezTo>
                  <a:lnTo>
                    <a:pt x="0" y="56384"/>
                  </a:lnTo>
                  <a:cubicBezTo>
                    <a:pt x="0" y="25244"/>
                    <a:pt x="25244" y="0"/>
                    <a:pt x="56384" y="0"/>
                  </a:cubicBezTo>
                  <a:close/>
                </a:path>
              </a:pathLst>
            </a:custGeom>
            <a:solidFill>
              <a:srgbClr val="DCDDD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084902" cy="904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35865" y="5038730"/>
            <a:ext cx="4119238" cy="3216298"/>
            <a:chOff x="0" y="0"/>
            <a:chExt cx="1215163" cy="9487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5163" cy="948798"/>
            </a:xfrm>
            <a:custGeom>
              <a:avLst/>
              <a:gdLst/>
              <a:ahLst/>
              <a:cxnLst/>
              <a:rect r="r" b="b" t="t" l="l"/>
              <a:pathLst>
                <a:path h="948798" w="1215163">
                  <a:moveTo>
                    <a:pt x="56384" y="0"/>
                  </a:moveTo>
                  <a:lnTo>
                    <a:pt x="1158779" y="0"/>
                  </a:lnTo>
                  <a:cubicBezTo>
                    <a:pt x="1189919" y="0"/>
                    <a:pt x="1215163" y="25244"/>
                    <a:pt x="1215163" y="56384"/>
                  </a:cubicBezTo>
                  <a:lnTo>
                    <a:pt x="1215163" y="892415"/>
                  </a:lnTo>
                  <a:cubicBezTo>
                    <a:pt x="1215163" y="923555"/>
                    <a:pt x="1189919" y="948798"/>
                    <a:pt x="1158779" y="948798"/>
                  </a:cubicBezTo>
                  <a:lnTo>
                    <a:pt x="56384" y="948798"/>
                  </a:lnTo>
                  <a:cubicBezTo>
                    <a:pt x="25244" y="948798"/>
                    <a:pt x="0" y="923555"/>
                    <a:pt x="0" y="892415"/>
                  </a:cubicBezTo>
                  <a:lnTo>
                    <a:pt x="0" y="56384"/>
                  </a:lnTo>
                  <a:cubicBezTo>
                    <a:pt x="0" y="25244"/>
                    <a:pt x="25244" y="0"/>
                    <a:pt x="56384" y="0"/>
                  </a:cubicBezTo>
                  <a:close/>
                </a:path>
              </a:pathLst>
            </a:custGeom>
            <a:solidFill>
              <a:srgbClr val="DCDDDD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15163" cy="1005948"/>
            </a:xfrm>
            <a:prstGeom prst="rect">
              <a:avLst/>
            </a:prstGeom>
          </p:spPr>
          <p:txBody>
            <a:bodyPr anchor="ctr" rtlCol="false" tIns="45354" lIns="45354" bIns="45354" rIns="45354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479897" y="2246621"/>
            <a:ext cx="2162505" cy="2049937"/>
          </a:xfrm>
          <a:custGeom>
            <a:avLst/>
            <a:gdLst/>
            <a:ahLst/>
            <a:cxnLst/>
            <a:rect r="r" b="b" t="t" l="l"/>
            <a:pathLst>
              <a:path h="2049937" w="2162505">
                <a:moveTo>
                  <a:pt x="0" y="0"/>
                </a:moveTo>
                <a:lnTo>
                  <a:pt x="2162505" y="0"/>
                </a:lnTo>
                <a:lnTo>
                  <a:pt x="2162505" y="2049936"/>
                </a:lnTo>
                <a:lnTo>
                  <a:pt x="0" y="2049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826125" y="5269940"/>
            <a:ext cx="33476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NHƯỢC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ĐIỂM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8152" y="5820457"/>
            <a:ext cx="3633611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Khô</a:t>
            </a: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ng phù hợp hệ thống nhiều người dùng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Không tối ưu cho dữ liệu lớn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21540" y="5269940"/>
            <a:ext cx="35478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ƯU ĐIỂM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63139" y="5820457"/>
            <a:ext cx="366469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hẹ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Không cần server</a:t>
            </a:r>
          </a:p>
          <a:p>
            <a:pPr algn="just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Dễ</a:t>
            </a:r>
            <a:r>
              <a:rPr lang="en-US" sz="2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triển khai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14118" y="2736884"/>
            <a:ext cx="1155211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ƯU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 ĐIỂM VÀ NHƯỢC ĐIỂM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3822719"/>
            <a:ext cx="2300976" cy="90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SQLITE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00835" y="3221395"/>
            <a:ext cx="6605214" cy="3844209"/>
          </a:xfrm>
          <a:custGeom>
            <a:avLst/>
            <a:gdLst/>
            <a:ahLst/>
            <a:cxnLst/>
            <a:rect r="r" b="b" t="t" l="l"/>
            <a:pathLst>
              <a:path h="3844209" w="6605214">
                <a:moveTo>
                  <a:pt x="0" y="0"/>
                </a:moveTo>
                <a:lnTo>
                  <a:pt x="6605214" y="0"/>
                </a:lnTo>
                <a:lnTo>
                  <a:pt x="6605214" y="3844210"/>
                </a:lnTo>
                <a:lnTo>
                  <a:pt x="0" y="3844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216996"/>
            <a:ext cx="8332852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TRƯỜNG HỢP SỬ DỤN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G THỰC TẾ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018954"/>
            <a:ext cx="8504538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MySQ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 thường được sử dụng trong: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Website thương mại điện tử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Hệ thống quản lý khách hàng (CRM)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Backend API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SQLite thường được sử dụng trong: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Ứng dụng mobile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Ứng dụng desktop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Hệ thống lưu trữ dữ liệu offline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7898" y="1120578"/>
            <a:ext cx="1049738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82347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187027" y="2634340"/>
            <a:ext cx="4963574" cy="5018320"/>
          </a:xfrm>
          <a:custGeom>
            <a:avLst/>
            <a:gdLst/>
            <a:ahLst/>
            <a:cxnLst/>
            <a:rect r="r" b="b" t="t" l="l"/>
            <a:pathLst>
              <a:path h="5018320" w="4963574">
                <a:moveTo>
                  <a:pt x="0" y="0"/>
                </a:moveTo>
                <a:lnTo>
                  <a:pt x="4963574" y="0"/>
                </a:lnTo>
                <a:lnTo>
                  <a:pt x="4963574" y="5018320"/>
                </a:lnTo>
                <a:lnTo>
                  <a:pt x="0" y="5018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37399" y="4944383"/>
            <a:ext cx="204365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PHONE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7399" y="6475026"/>
            <a:ext cx="204365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ADDRESS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7399" y="5432539"/>
            <a:ext cx="324163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0397 419 555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86294" y="4944383"/>
            <a:ext cx="185510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86294" y="5432539"/>
            <a:ext cx="515267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nhoangnghia2104@gmail.com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399" y="6963580"/>
            <a:ext cx="515267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Trường Đại học Nam Cần Thơ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Khoa Công nghệ thông tin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7399" y="2993891"/>
            <a:ext cx="844170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THÔNG TIN LIÊN HỆ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8508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0578" y="2733288"/>
            <a:ext cx="4820425" cy="4820425"/>
          </a:xfrm>
          <a:custGeom>
            <a:avLst/>
            <a:gdLst/>
            <a:ahLst/>
            <a:cxnLst/>
            <a:rect r="r" b="b" t="t" l="l"/>
            <a:pathLst>
              <a:path h="4820425" w="4820425">
                <a:moveTo>
                  <a:pt x="0" y="0"/>
                </a:moveTo>
                <a:lnTo>
                  <a:pt x="4820425" y="0"/>
                </a:lnTo>
                <a:lnTo>
                  <a:pt x="4820425" y="4820424"/>
                </a:lnTo>
                <a:lnTo>
                  <a:pt x="0" y="4820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34589" y="3641137"/>
            <a:ext cx="6572833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pc="293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THANKS FOR WATCHING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5082" y="6199194"/>
            <a:ext cx="853184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Nguyễn Hoàng Nghĩa - DH22TIN09 -  220996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DAHDU6n87bk</dc:identifier>
  <dcterms:modified xsi:type="dcterms:W3CDTF">2011-08-01T06:04:30Z</dcterms:modified>
  <cp:revision>1</cp:revision>
  <dc:title>CƠ SỞ DỮ LIỆU</dc:title>
</cp:coreProperties>
</file>
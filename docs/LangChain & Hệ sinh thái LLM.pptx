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Poppins Bold" charset="1" panose="00000800000000000000"/>
      <p:regular r:id="rId23"/>
    </p:embeddedFont>
    <p:embeddedFont>
      <p:font typeface="Poppins" charset="1" panose="000005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2.png" Type="http://schemas.openxmlformats.org/officeDocument/2006/relationships/image"/><Relationship Id="rId5" Target="../media/image23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479198" cy="691756"/>
          </a:xfrm>
          <a:custGeom>
            <a:avLst/>
            <a:gdLst/>
            <a:ahLst/>
            <a:cxnLst/>
            <a:rect r="r" b="b" t="t" l="l"/>
            <a:pathLst>
              <a:path h="691756" w="479198">
                <a:moveTo>
                  <a:pt x="0" y="0"/>
                </a:moveTo>
                <a:lnTo>
                  <a:pt x="479198" y="0"/>
                </a:lnTo>
                <a:lnTo>
                  <a:pt x="479198" y="691756"/>
                </a:lnTo>
                <a:lnTo>
                  <a:pt x="0" y="691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396920" y="1989622"/>
            <a:ext cx="6696132" cy="6307756"/>
          </a:xfrm>
          <a:custGeom>
            <a:avLst/>
            <a:gdLst/>
            <a:ahLst/>
            <a:cxnLst/>
            <a:rect r="r" b="b" t="t" l="l"/>
            <a:pathLst>
              <a:path h="6307756" w="6696132">
                <a:moveTo>
                  <a:pt x="0" y="0"/>
                </a:moveTo>
                <a:lnTo>
                  <a:pt x="6696133" y="0"/>
                </a:lnTo>
                <a:lnTo>
                  <a:pt x="6696133" y="6307756"/>
                </a:lnTo>
                <a:lnTo>
                  <a:pt x="0" y="63077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30777" y="3387724"/>
            <a:ext cx="8799036" cy="2873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b="true" sz="8000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LANG</a:t>
            </a:r>
            <a:r>
              <a:rPr lang="en-US" b="true" sz="8000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CHAIN &amp; HỆ SINH THÁI LLM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8816975"/>
            <a:ext cx="8115300" cy="1317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</a:t>
            </a: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G VIỆC THỰC TẬP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NGƯỜI TRÌNH BÀY: NGUYỄN HOÀNG NGHĨA (220996)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363549" y="1120578"/>
            <a:ext cx="1069546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CÔNG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TY TNHH MỘT THÀNH VIÊN CÔNG NGHỆ KỸ THUẬT TIÊN PHONG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7259300" y="0"/>
            <a:ext cx="1028700" cy="1004395"/>
            <a:chOff x="0" y="0"/>
            <a:chExt cx="270933" cy="26453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06426" y="0"/>
            <a:ext cx="2181574" cy="2130031"/>
            <a:chOff x="0" y="0"/>
            <a:chExt cx="574571" cy="5609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4571" cy="560996"/>
            </a:xfrm>
            <a:custGeom>
              <a:avLst/>
              <a:gdLst/>
              <a:ahLst/>
              <a:cxnLst/>
              <a:rect r="r" b="b" t="t" l="l"/>
              <a:pathLst>
                <a:path h="560996" w="574571">
                  <a:moveTo>
                    <a:pt x="0" y="0"/>
                  </a:moveTo>
                  <a:lnTo>
                    <a:pt x="574571" y="0"/>
                  </a:lnTo>
                  <a:lnTo>
                    <a:pt x="574571" y="560996"/>
                  </a:lnTo>
                  <a:lnTo>
                    <a:pt x="0" y="560996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74571" cy="599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0710137" y="2515674"/>
            <a:ext cx="5816113" cy="5255651"/>
          </a:xfrm>
          <a:custGeom>
            <a:avLst/>
            <a:gdLst/>
            <a:ahLst/>
            <a:cxnLst/>
            <a:rect r="r" b="b" t="t" l="l"/>
            <a:pathLst>
              <a:path h="5255651" w="5816113">
                <a:moveTo>
                  <a:pt x="0" y="0"/>
                </a:moveTo>
                <a:lnTo>
                  <a:pt x="5816113" y="0"/>
                </a:lnTo>
                <a:lnTo>
                  <a:pt x="5816113" y="5255652"/>
                </a:lnTo>
                <a:lnTo>
                  <a:pt x="0" y="52556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761750" y="3326947"/>
            <a:ext cx="7743293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NỘI DUNG </a:t>
            </a: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CHÍNH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61750" y="4575628"/>
            <a:ext cx="7018919" cy="219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Tổng</a:t>
            </a: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quan LangChain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Các thành phần của LangChain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Vector Database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RAG (Retrieval Augmented Generation)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Ứng dụng thực tế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0" y="9282605"/>
            <a:ext cx="1028700" cy="1004395"/>
            <a:chOff x="0" y="0"/>
            <a:chExt cx="270933" cy="2645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28700" y="1028700"/>
            <a:ext cx="479198" cy="691756"/>
          </a:xfrm>
          <a:custGeom>
            <a:avLst/>
            <a:gdLst/>
            <a:ahLst/>
            <a:cxnLst/>
            <a:rect r="r" b="b" t="t" l="l"/>
            <a:pathLst>
              <a:path h="691756" w="479198">
                <a:moveTo>
                  <a:pt x="0" y="0"/>
                </a:moveTo>
                <a:lnTo>
                  <a:pt x="479198" y="0"/>
                </a:lnTo>
                <a:lnTo>
                  <a:pt x="479198" y="691756"/>
                </a:lnTo>
                <a:lnTo>
                  <a:pt x="0" y="6917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63549" y="1120578"/>
            <a:ext cx="1072653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CÔNG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TY TNHH MỘT THÀNH VIÊN CÔNG NGHỆ KỸ THUẬT TIÊN PHONG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4208" y="2405610"/>
            <a:ext cx="6812791" cy="5475781"/>
          </a:xfrm>
          <a:custGeom>
            <a:avLst/>
            <a:gdLst/>
            <a:ahLst/>
            <a:cxnLst/>
            <a:rect r="r" b="b" t="t" l="l"/>
            <a:pathLst>
              <a:path h="5475781" w="6812791">
                <a:moveTo>
                  <a:pt x="0" y="0"/>
                </a:moveTo>
                <a:lnTo>
                  <a:pt x="6812791" y="0"/>
                </a:lnTo>
                <a:lnTo>
                  <a:pt x="6812791" y="5475780"/>
                </a:lnTo>
                <a:lnTo>
                  <a:pt x="0" y="54757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413857" y="3326947"/>
            <a:ext cx="7845443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LA</a:t>
            </a: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NGCHA</a:t>
            </a: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IN LÀ GÌ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413857" y="4575628"/>
            <a:ext cx="7018919" cy="3070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LangChain là framework được thiết kế để xây dựng các ứng dụng sử dụng Large Language Models (LLM).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  LangChain cung cấp các công cụ giúp kết nối LLM với dữ liệu và xây dựng các workflow AI phức tạp.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258300"/>
            <a:ext cx="1053593" cy="1028700"/>
            <a:chOff x="0" y="0"/>
            <a:chExt cx="277489" cy="270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7490" cy="270933"/>
            </a:xfrm>
            <a:custGeom>
              <a:avLst/>
              <a:gdLst/>
              <a:ahLst/>
              <a:cxnLst/>
              <a:rect r="r" b="b" t="t" l="l"/>
              <a:pathLst>
                <a:path h="270933" w="277490">
                  <a:moveTo>
                    <a:pt x="0" y="0"/>
                  </a:moveTo>
                  <a:lnTo>
                    <a:pt x="277490" y="0"/>
                  </a:lnTo>
                  <a:lnTo>
                    <a:pt x="27749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7489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59300" y="24305"/>
            <a:ext cx="1028700" cy="1004395"/>
            <a:chOff x="0" y="0"/>
            <a:chExt cx="270933" cy="2645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28700" y="1028700"/>
            <a:ext cx="479198" cy="691756"/>
          </a:xfrm>
          <a:custGeom>
            <a:avLst/>
            <a:gdLst/>
            <a:ahLst/>
            <a:cxnLst/>
            <a:rect r="r" b="b" t="t" l="l"/>
            <a:pathLst>
              <a:path h="691756" w="479198">
                <a:moveTo>
                  <a:pt x="0" y="0"/>
                </a:moveTo>
                <a:lnTo>
                  <a:pt x="479198" y="0"/>
                </a:lnTo>
                <a:lnTo>
                  <a:pt x="479198" y="691756"/>
                </a:lnTo>
                <a:lnTo>
                  <a:pt x="0" y="6917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63549" y="1120578"/>
            <a:ext cx="1071100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CÔNG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TY TNHH MỘT THÀNH VIÊN CÔNG NGHỆ KỸ THUẬT TIÊN PHONG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04208" y="2405610"/>
            <a:ext cx="6812791" cy="5475781"/>
          </a:xfrm>
          <a:custGeom>
            <a:avLst/>
            <a:gdLst/>
            <a:ahLst/>
            <a:cxnLst/>
            <a:rect r="r" b="b" t="t" l="l"/>
            <a:pathLst>
              <a:path h="5475781" w="6812791">
                <a:moveTo>
                  <a:pt x="0" y="0"/>
                </a:moveTo>
                <a:lnTo>
                  <a:pt x="6812791" y="0"/>
                </a:lnTo>
                <a:lnTo>
                  <a:pt x="6812791" y="5475780"/>
                </a:lnTo>
                <a:lnTo>
                  <a:pt x="0" y="54757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9413857" y="3326947"/>
            <a:ext cx="7845443" cy="125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  <a:spcBef>
                <a:spcPct val="0"/>
              </a:spcBef>
            </a:pP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LA</a:t>
            </a: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NGCHA</a:t>
            </a: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IN LÀ GÌ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413857" y="4575628"/>
            <a:ext cx="7018919" cy="263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LangChain thường được sử dụng để xây dựng: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Chatbot AI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AI Assistant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Hệ thống hỏi đáp thông minh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Hệ thống phân tích dữ liệu bằng AI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9258300"/>
            <a:ext cx="1053593" cy="1028700"/>
            <a:chOff x="0" y="0"/>
            <a:chExt cx="277489" cy="270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7490" cy="270933"/>
            </a:xfrm>
            <a:custGeom>
              <a:avLst/>
              <a:gdLst/>
              <a:ahLst/>
              <a:cxnLst/>
              <a:rect r="r" b="b" t="t" l="l"/>
              <a:pathLst>
                <a:path h="270933" w="277490">
                  <a:moveTo>
                    <a:pt x="0" y="0"/>
                  </a:moveTo>
                  <a:lnTo>
                    <a:pt x="277490" y="0"/>
                  </a:lnTo>
                  <a:lnTo>
                    <a:pt x="27749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7489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7259300" y="24305"/>
            <a:ext cx="1028700" cy="1004395"/>
            <a:chOff x="0" y="0"/>
            <a:chExt cx="270933" cy="26453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028700" y="1028700"/>
            <a:ext cx="479198" cy="691756"/>
          </a:xfrm>
          <a:custGeom>
            <a:avLst/>
            <a:gdLst/>
            <a:ahLst/>
            <a:cxnLst/>
            <a:rect r="r" b="b" t="t" l="l"/>
            <a:pathLst>
              <a:path h="691756" w="479198">
                <a:moveTo>
                  <a:pt x="0" y="0"/>
                </a:moveTo>
                <a:lnTo>
                  <a:pt x="479198" y="0"/>
                </a:lnTo>
                <a:lnTo>
                  <a:pt x="479198" y="691756"/>
                </a:lnTo>
                <a:lnTo>
                  <a:pt x="0" y="6917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63549" y="1120578"/>
            <a:ext cx="1071100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CÔNG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TY TNHH MỘT THÀNH VIÊN CÔNG NGHỆ KỸ THUẬT TIÊN PHONG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06426" y="0"/>
            <a:ext cx="2181574" cy="2130031"/>
            <a:chOff x="0" y="0"/>
            <a:chExt cx="574571" cy="5609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4571" cy="560996"/>
            </a:xfrm>
            <a:custGeom>
              <a:avLst/>
              <a:gdLst/>
              <a:ahLst/>
              <a:cxnLst/>
              <a:rect r="r" b="b" t="t" l="l"/>
              <a:pathLst>
                <a:path h="560996" w="574571">
                  <a:moveTo>
                    <a:pt x="0" y="0"/>
                  </a:moveTo>
                  <a:lnTo>
                    <a:pt x="574571" y="0"/>
                  </a:lnTo>
                  <a:lnTo>
                    <a:pt x="574571" y="560996"/>
                  </a:lnTo>
                  <a:lnTo>
                    <a:pt x="0" y="560996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74571" cy="599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282605"/>
            <a:ext cx="1028700" cy="1004395"/>
            <a:chOff x="0" y="0"/>
            <a:chExt cx="270933" cy="26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479198" cy="691756"/>
          </a:xfrm>
          <a:custGeom>
            <a:avLst/>
            <a:gdLst/>
            <a:ahLst/>
            <a:cxnLst/>
            <a:rect r="r" b="b" t="t" l="l"/>
            <a:pathLst>
              <a:path h="691756" w="479198">
                <a:moveTo>
                  <a:pt x="0" y="0"/>
                </a:moveTo>
                <a:lnTo>
                  <a:pt x="479198" y="0"/>
                </a:lnTo>
                <a:lnTo>
                  <a:pt x="479198" y="691756"/>
                </a:lnTo>
                <a:lnTo>
                  <a:pt x="0" y="691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820122" y="2403278"/>
            <a:ext cx="6496216" cy="5480444"/>
          </a:xfrm>
          <a:custGeom>
            <a:avLst/>
            <a:gdLst/>
            <a:ahLst/>
            <a:cxnLst/>
            <a:rect r="r" b="b" t="t" l="l"/>
            <a:pathLst>
              <a:path h="5480444" w="6496216">
                <a:moveTo>
                  <a:pt x="0" y="0"/>
                </a:moveTo>
                <a:lnTo>
                  <a:pt x="6496216" y="0"/>
                </a:lnTo>
                <a:lnTo>
                  <a:pt x="6496216" y="5480444"/>
                </a:lnTo>
                <a:lnTo>
                  <a:pt x="0" y="54804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04550" y="2272906"/>
            <a:ext cx="8915572" cy="249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VAI </a:t>
            </a: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TRÒ CỦA LANGCHAIN TR</a:t>
            </a: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ONG HỆ THỐNG AI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04550" y="5018954"/>
            <a:ext cx="8458978" cy="2632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rong hệ thống AI, LangChain đóng vai trò trung gian giữa ứng dụng và mô hình ngôn ngữ lớn.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Quy trình hoạt động cơ bản: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User → Application → LangChain → LLM → Response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363549" y="1120578"/>
            <a:ext cx="10648842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CÔNG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TY TNHH MỘT THÀNH VIÊN CÔNG NGHỆ KỸ THUẬT TIÊN PHONG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06426" y="0"/>
            <a:ext cx="2181574" cy="2130031"/>
            <a:chOff x="0" y="0"/>
            <a:chExt cx="574571" cy="5609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4571" cy="560996"/>
            </a:xfrm>
            <a:custGeom>
              <a:avLst/>
              <a:gdLst/>
              <a:ahLst/>
              <a:cxnLst/>
              <a:rect r="r" b="b" t="t" l="l"/>
              <a:pathLst>
                <a:path h="560996" w="574571">
                  <a:moveTo>
                    <a:pt x="0" y="0"/>
                  </a:moveTo>
                  <a:lnTo>
                    <a:pt x="574571" y="0"/>
                  </a:lnTo>
                  <a:lnTo>
                    <a:pt x="574571" y="560996"/>
                  </a:lnTo>
                  <a:lnTo>
                    <a:pt x="0" y="560996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74571" cy="599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282605"/>
            <a:ext cx="1028700" cy="1004395"/>
            <a:chOff x="0" y="0"/>
            <a:chExt cx="270933" cy="26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479198" cy="691756"/>
          </a:xfrm>
          <a:custGeom>
            <a:avLst/>
            <a:gdLst/>
            <a:ahLst/>
            <a:cxnLst/>
            <a:rect r="r" b="b" t="t" l="l"/>
            <a:pathLst>
              <a:path h="691756" w="479198">
                <a:moveTo>
                  <a:pt x="0" y="0"/>
                </a:moveTo>
                <a:lnTo>
                  <a:pt x="479198" y="0"/>
                </a:lnTo>
                <a:lnTo>
                  <a:pt x="479198" y="691756"/>
                </a:lnTo>
                <a:lnTo>
                  <a:pt x="0" y="691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820122" y="2403278"/>
            <a:ext cx="6496216" cy="5480444"/>
          </a:xfrm>
          <a:custGeom>
            <a:avLst/>
            <a:gdLst/>
            <a:ahLst/>
            <a:cxnLst/>
            <a:rect r="r" b="b" t="t" l="l"/>
            <a:pathLst>
              <a:path h="5480444" w="6496216">
                <a:moveTo>
                  <a:pt x="0" y="0"/>
                </a:moveTo>
                <a:lnTo>
                  <a:pt x="6496216" y="0"/>
                </a:lnTo>
                <a:lnTo>
                  <a:pt x="6496216" y="5480444"/>
                </a:lnTo>
                <a:lnTo>
                  <a:pt x="0" y="54804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04550" y="2272906"/>
            <a:ext cx="8915572" cy="249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VAI </a:t>
            </a: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TRÒ CỦA LANGCHAIN TR</a:t>
            </a: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ONG HỆ THỐNG AI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04550" y="5018954"/>
            <a:ext cx="8458978" cy="219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LangChain giúp: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Chuẩn hóa prompt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Quản lý dữ liệu đầu vào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Kết nối nhiều nguồn dữ liệu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Tạo workflow xử lý cho AI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63549" y="1120578"/>
            <a:ext cx="10648842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CÔNG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TY TNHH MỘT THÀNH VIÊN CÔNG NGHỆ KỸ THUẬT TIÊN PHONG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053593" cy="1028700"/>
            <a:chOff x="0" y="0"/>
            <a:chExt cx="277489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7490" cy="270933"/>
            </a:xfrm>
            <a:custGeom>
              <a:avLst/>
              <a:gdLst/>
              <a:ahLst/>
              <a:cxnLst/>
              <a:rect r="r" b="b" t="t" l="l"/>
              <a:pathLst>
                <a:path h="270933" w="277490">
                  <a:moveTo>
                    <a:pt x="0" y="0"/>
                  </a:moveTo>
                  <a:lnTo>
                    <a:pt x="277490" y="0"/>
                  </a:lnTo>
                  <a:lnTo>
                    <a:pt x="27749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7489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24305"/>
            <a:ext cx="1028700" cy="1004395"/>
            <a:chOff x="0" y="0"/>
            <a:chExt cx="270933" cy="26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479198" cy="691756"/>
          </a:xfrm>
          <a:custGeom>
            <a:avLst/>
            <a:gdLst/>
            <a:ahLst/>
            <a:cxnLst/>
            <a:rect r="r" b="b" t="t" l="l"/>
            <a:pathLst>
              <a:path h="691756" w="479198">
                <a:moveTo>
                  <a:pt x="0" y="0"/>
                </a:moveTo>
                <a:lnTo>
                  <a:pt x="479198" y="0"/>
                </a:lnTo>
                <a:lnTo>
                  <a:pt x="479198" y="691756"/>
                </a:lnTo>
                <a:lnTo>
                  <a:pt x="0" y="691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583464" y="2432050"/>
            <a:ext cx="15571717" cy="6710839"/>
            <a:chOff x="0" y="0"/>
            <a:chExt cx="20762289" cy="894778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268373"/>
              <a:ext cx="8367235" cy="6693788"/>
            </a:xfrm>
            <a:custGeom>
              <a:avLst/>
              <a:gdLst/>
              <a:ahLst/>
              <a:cxnLst/>
              <a:rect r="r" b="b" t="t" l="l"/>
              <a:pathLst>
                <a:path h="6693788" w="8367235">
                  <a:moveTo>
                    <a:pt x="0" y="0"/>
                  </a:moveTo>
                  <a:lnTo>
                    <a:pt x="8367235" y="0"/>
                  </a:lnTo>
                  <a:lnTo>
                    <a:pt x="8367235" y="6693788"/>
                  </a:lnTo>
                  <a:lnTo>
                    <a:pt x="0" y="66937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8629638" y="142875"/>
              <a:ext cx="12132651" cy="23209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6299"/>
                </a:lnSpc>
                <a:spcBef>
                  <a:spcPct val="0"/>
                </a:spcBef>
              </a:pPr>
              <a:r>
                <a:rPr lang="en-US" b="true" sz="6999">
                  <a:solidFill>
                    <a:srgbClr val="1A1C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KẾT NỐI L</a:t>
              </a:r>
              <a:r>
                <a:rPr lang="en-US" b="true" sz="6999" strike="noStrike" u="none">
                  <a:solidFill>
                    <a:srgbClr val="1A1C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</a:t>
              </a:r>
              <a:r>
                <a:rPr lang="en-US" b="true" sz="6999" strike="noStrike" u="none">
                  <a:solidFill>
                    <a:srgbClr val="1A1C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NGCH</a:t>
              </a:r>
              <a:r>
                <a:rPr lang="en-US" b="true" sz="6999" strike="noStrike" u="none">
                  <a:solidFill>
                    <a:srgbClr val="1A1C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</a:t>
              </a:r>
              <a:r>
                <a:rPr lang="en-US" b="true" sz="6999" strike="noStrike" u="none">
                  <a:solidFill>
                    <a:srgbClr val="1A1C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IN</a:t>
              </a:r>
              <a:r>
                <a:rPr lang="en-US" b="true" sz="6999" strike="noStrike" u="none">
                  <a:solidFill>
                    <a:srgbClr val="1A1C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 </a:t>
              </a:r>
              <a:r>
                <a:rPr lang="en-US" b="true" sz="6999" strike="noStrike" u="none">
                  <a:solidFill>
                    <a:srgbClr val="1A1C20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VỚI LLM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8629638" y="2539577"/>
              <a:ext cx="11801143" cy="64082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1A1C20"/>
                  </a:solidFill>
                  <a:latin typeface="Poppins"/>
                  <a:ea typeface="Poppins"/>
                  <a:cs typeface="Poppins"/>
                  <a:sym typeface="Poppins"/>
                </a:rPr>
                <a:t>LangChain có thể kết nối với nhiều mô hình ngôn ngữ lớn như:</a:t>
              </a:r>
            </a:p>
            <a:p>
              <a:pPr algn="just" marL="539749" indent="-269875" lvl="1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>
                  <a:solidFill>
                    <a:srgbClr val="1A1C20"/>
                  </a:solidFill>
                  <a:latin typeface="Poppins"/>
                  <a:ea typeface="Poppins"/>
                  <a:cs typeface="Poppins"/>
                  <a:sym typeface="Poppins"/>
                </a:rPr>
                <a:t>OpenAI GPT</a:t>
              </a:r>
            </a:p>
            <a:p>
              <a:pPr algn="just" marL="539749" indent="-269875" lvl="1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>
                  <a:solidFill>
                    <a:srgbClr val="1A1C20"/>
                  </a:solidFill>
                  <a:latin typeface="Poppins"/>
                  <a:ea typeface="Poppins"/>
                  <a:cs typeface="Poppins"/>
                  <a:sym typeface="Poppins"/>
                </a:rPr>
                <a:t>Google Gemini</a:t>
              </a:r>
            </a:p>
            <a:p>
              <a:pPr algn="just" marL="539749" indent="-269875" lvl="1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>
                  <a:solidFill>
                    <a:srgbClr val="1A1C20"/>
                  </a:solidFill>
                  <a:latin typeface="Poppins"/>
                  <a:ea typeface="Poppins"/>
                  <a:cs typeface="Poppins"/>
                  <a:sym typeface="Poppins"/>
                </a:rPr>
                <a:t>Grok</a:t>
              </a:r>
            </a:p>
            <a:p>
              <a:pPr algn="just" marL="539749" indent="-269875" lvl="1">
                <a:lnSpc>
                  <a:spcPts val="349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499">
                  <a:solidFill>
                    <a:srgbClr val="1A1C20"/>
                  </a:solidFill>
                  <a:latin typeface="Poppins"/>
                  <a:ea typeface="Poppins"/>
                  <a:cs typeface="Poppins"/>
                  <a:sym typeface="Poppins"/>
                </a:rPr>
                <a:t>Local LLM</a:t>
              </a:r>
            </a:p>
            <a:p>
              <a:pPr algn="just">
                <a:lnSpc>
                  <a:spcPts val="3499"/>
                </a:lnSpc>
                <a:spcBef>
                  <a:spcPct val="0"/>
                </a:spcBef>
              </a:pPr>
            </a:p>
            <a:p>
              <a:pPr algn="just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1A1C20"/>
                  </a:solidFill>
                  <a:latin typeface="Poppins"/>
                  <a:ea typeface="Poppins"/>
                  <a:cs typeface="Poppins"/>
                  <a:sym typeface="Poppins"/>
                </a:rPr>
                <a:t>Thông qua các API, LangChain có thể gửi prompt tới mô hình LLM và nhận lại kết quả để xử lý hoặc hiển thị cho người dùng.</a:t>
              </a:r>
            </a:p>
            <a:p>
              <a:pPr algn="just">
                <a:lnSpc>
                  <a:spcPts val="349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63549" y="1120578"/>
            <a:ext cx="10648842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CÔNG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TY TNHH MỘT THÀNH VIÊN CÔNG NGHỆ KỸ THUẬT TIÊN PHONG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06426" y="0"/>
            <a:ext cx="2181574" cy="2130031"/>
            <a:chOff x="0" y="0"/>
            <a:chExt cx="574571" cy="5609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4571" cy="560996"/>
            </a:xfrm>
            <a:custGeom>
              <a:avLst/>
              <a:gdLst/>
              <a:ahLst/>
              <a:cxnLst/>
              <a:rect r="r" b="b" t="t" l="l"/>
              <a:pathLst>
                <a:path h="560996" w="574571">
                  <a:moveTo>
                    <a:pt x="0" y="0"/>
                  </a:moveTo>
                  <a:lnTo>
                    <a:pt x="574571" y="0"/>
                  </a:lnTo>
                  <a:lnTo>
                    <a:pt x="574571" y="560996"/>
                  </a:lnTo>
                  <a:lnTo>
                    <a:pt x="0" y="560996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74571" cy="599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282605"/>
            <a:ext cx="1028700" cy="1004395"/>
            <a:chOff x="0" y="0"/>
            <a:chExt cx="270933" cy="26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479198" cy="691756"/>
          </a:xfrm>
          <a:custGeom>
            <a:avLst/>
            <a:gdLst/>
            <a:ahLst/>
            <a:cxnLst/>
            <a:rect r="r" b="b" t="t" l="l"/>
            <a:pathLst>
              <a:path h="691756" w="479198">
                <a:moveTo>
                  <a:pt x="0" y="0"/>
                </a:moveTo>
                <a:lnTo>
                  <a:pt x="479198" y="0"/>
                </a:lnTo>
                <a:lnTo>
                  <a:pt x="479198" y="691756"/>
                </a:lnTo>
                <a:lnTo>
                  <a:pt x="0" y="691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927777" y="2648295"/>
            <a:ext cx="5050900" cy="4990410"/>
          </a:xfrm>
          <a:custGeom>
            <a:avLst/>
            <a:gdLst/>
            <a:ahLst/>
            <a:cxnLst/>
            <a:rect r="r" b="b" t="t" l="l"/>
            <a:pathLst>
              <a:path h="4990410" w="5050900">
                <a:moveTo>
                  <a:pt x="0" y="0"/>
                </a:moveTo>
                <a:lnTo>
                  <a:pt x="5050900" y="0"/>
                </a:lnTo>
                <a:lnTo>
                  <a:pt x="5050900" y="4990410"/>
                </a:lnTo>
                <a:lnTo>
                  <a:pt x="0" y="49904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468779" y="2283719"/>
            <a:ext cx="7018919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PROMPT TE</a:t>
            </a: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MPLATE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07898" y="4085677"/>
            <a:ext cx="8601379" cy="526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Pr</a:t>
            </a: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ompt Template là một cách xây dựng prompt có cấu trúc để gửi cho LLM.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Thay vì viết prompt thủ công, ta có thể tạo template với các biến.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Ví dụ: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Question: {question}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Context: {context}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LangChain sẽ tự động thay thế giá trị vào các biến để tạo prompt hoàn chỉnh.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363549" y="1120578"/>
            <a:ext cx="10695460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CÔNG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TY TNHH MỘT THÀNH VIÊN CÔNG NGHỆ KỸ THUẬT TIÊN PHONG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053593" cy="1028700"/>
            <a:chOff x="0" y="0"/>
            <a:chExt cx="277489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7490" cy="270933"/>
            </a:xfrm>
            <a:custGeom>
              <a:avLst/>
              <a:gdLst/>
              <a:ahLst/>
              <a:cxnLst/>
              <a:rect r="r" b="b" t="t" l="l"/>
              <a:pathLst>
                <a:path h="270933" w="277490">
                  <a:moveTo>
                    <a:pt x="0" y="0"/>
                  </a:moveTo>
                  <a:lnTo>
                    <a:pt x="277490" y="0"/>
                  </a:lnTo>
                  <a:lnTo>
                    <a:pt x="27749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7489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24305"/>
            <a:ext cx="1028700" cy="1004395"/>
            <a:chOff x="0" y="0"/>
            <a:chExt cx="270933" cy="26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479198" cy="691756"/>
          </a:xfrm>
          <a:custGeom>
            <a:avLst/>
            <a:gdLst/>
            <a:ahLst/>
            <a:cxnLst/>
            <a:rect r="r" b="b" t="t" l="l"/>
            <a:pathLst>
              <a:path h="691756" w="479198">
                <a:moveTo>
                  <a:pt x="0" y="0"/>
                </a:moveTo>
                <a:lnTo>
                  <a:pt x="479198" y="0"/>
                </a:lnTo>
                <a:lnTo>
                  <a:pt x="479198" y="691756"/>
                </a:lnTo>
                <a:lnTo>
                  <a:pt x="0" y="691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63549" y="1120578"/>
            <a:ext cx="10679921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CÔNG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TY TNHH MỘT THÀNH VIÊN CÔNG NGHỆ KỸ THUẬT TIÊN PHONG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79395" y="2830447"/>
            <a:ext cx="3012615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CHA</a:t>
            </a:r>
            <a:r>
              <a:rPr lang="en-US" b="true" sz="6999" strike="noStrike" u="none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IN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79395" y="3809585"/>
            <a:ext cx="7018919" cy="569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Cha</a:t>
            </a: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in là chuỗi các bước xử lý khi làm việc với LLM.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Một chain có thể bao gồm: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nhận input từ người dùng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tạo prompt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gửi prompt tới LLM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xử lý và trả về kết quả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Các loại chain phổ biến: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LLMChain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Sequential Chain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492721" y="2687572"/>
            <a:ext cx="5457617" cy="4911855"/>
          </a:xfrm>
          <a:custGeom>
            <a:avLst/>
            <a:gdLst/>
            <a:ahLst/>
            <a:cxnLst/>
            <a:rect r="r" b="b" t="t" l="l"/>
            <a:pathLst>
              <a:path h="4911855" w="5457617">
                <a:moveTo>
                  <a:pt x="0" y="0"/>
                </a:moveTo>
                <a:lnTo>
                  <a:pt x="5457617" y="0"/>
                </a:lnTo>
                <a:lnTo>
                  <a:pt x="5457617" y="4911856"/>
                </a:lnTo>
                <a:lnTo>
                  <a:pt x="0" y="49118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053593" cy="1028700"/>
            <a:chOff x="0" y="0"/>
            <a:chExt cx="277489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7490" cy="270933"/>
            </a:xfrm>
            <a:custGeom>
              <a:avLst/>
              <a:gdLst/>
              <a:ahLst/>
              <a:cxnLst/>
              <a:rect r="r" b="b" t="t" l="l"/>
              <a:pathLst>
                <a:path h="270933" w="277490">
                  <a:moveTo>
                    <a:pt x="0" y="0"/>
                  </a:moveTo>
                  <a:lnTo>
                    <a:pt x="277490" y="0"/>
                  </a:lnTo>
                  <a:lnTo>
                    <a:pt x="27749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7489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24305"/>
            <a:ext cx="1028700" cy="1004395"/>
            <a:chOff x="0" y="0"/>
            <a:chExt cx="270933" cy="26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479198" cy="691756"/>
          </a:xfrm>
          <a:custGeom>
            <a:avLst/>
            <a:gdLst/>
            <a:ahLst/>
            <a:cxnLst/>
            <a:rect r="r" b="b" t="t" l="l"/>
            <a:pathLst>
              <a:path h="691756" w="479198">
                <a:moveTo>
                  <a:pt x="0" y="0"/>
                </a:moveTo>
                <a:lnTo>
                  <a:pt x="479198" y="0"/>
                </a:lnTo>
                <a:lnTo>
                  <a:pt x="479198" y="691756"/>
                </a:lnTo>
                <a:lnTo>
                  <a:pt x="0" y="691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63549" y="1120578"/>
            <a:ext cx="10679921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CÔNG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TY TNHH MỘT THÀNH VIÊN CÔNG NGHỆ KỸ THUẬT TIÊN PHONG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879395" y="2830447"/>
            <a:ext cx="4053759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MEMORY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79395" y="3809585"/>
            <a:ext cx="7018919" cy="4822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Memory giúp hệ thố</a:t>
            </a: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ng AI ghi nhớ thông tin trong cuộc hội thoại.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Nhờ memory, chatbot có thể hiểu được ngữ cảnh của cuộc trò chuyện.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Ví dụ: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User: Tôi </a:t>
            </a: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tên Nam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AI: Xin chào Năm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Memory sẽ lưu lại thông tin để sử dụng cho các câu hỏi </a:t>
            </a: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tiếp theo.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492721" y="2687572"/>
            <a:ext cx="5457617" cy="4911855"/>
          </a:xfrm>
          <a:custGeom>
            <a:avLst/>
            <a:gdLst/>
            <a:ahLst/>
            <a:cxnLst/>
            <a:rect r="r" b="b" t="t" l="l"/>
            <a:pathLst>
              <a:path h="4911855" w="5457617">
                <a:moveTo>
                  <a:pt x="0" y="0"/>
                </a:moveTo>
                <a:lnTo>
                  <a:pt x="5457617" y="0"/>
                </a:lnTo>
                <a:lnTo>
                  <a:pt x="5457617" y="4911856"/>
                </a:lnTo>
                <a:lnTo>
                  <a:pt x="0" y="49118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06426" y="0"/>
            <a:ext cx="2181574" cy="2130031"/>
            <a:chOff x="0" y="0"/>
            <a:chExt cx="574571" cy="5609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4571" cy="560996"/>
            </a:xfrm>
            <a:custGeom>
              <a:avLst/>
              <a:gdLst/>
              <a:ahLst/>
              <a:cxnLst/>
              <a:rect r="r" b="b" t="t" l="l"/>
              <a:pathLst>
                <a:path h="560996" w="574571">
                  <a:moveTo>
                    <a:pt x="0" y="0"/>
                  </a:moveTo>
                  <a:lnTo>
                    <a:pt x="574571" y="0"/>
                  </a:lnTo>
                  <a:lnTo>
                    <a:pt x="574571" y="560996"/>
                  </a:lnTo>
                  <a:lnTo>
                    <a:pt x="0" y="560996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74571" cy="599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282605"/>
            <a:ext cx="1028700" cy="1004395"/>
            <a:chOff x="0" y="0"/>
            <a:chExt cx="270933" cy="26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479198" cy="691756"/>
          </a:xfrm>
          <a:custGeom>
            <a:avLst/>
            <a:gdLst/>
            <a:ahLst/>
            <a:cxnLst/>
            <a:rect r="r" b="b" t="t" l="l"/>
            <a:pathLst>
              <a:path h="691756" w="479198">
                <a:moveTo>
                  <a:pt x="0" y="0"/>
                </a:moveTo>
                <a:lnTo>
                  <a:pt x="479198" y="0"/>
                </a:lnTo>
                <a:lnTo>
                  <a:pt x="479198" y="691756"/>
                </a:lnTo>
                <a:lnTo>
                  <a:pt x="0" y="691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100835" y="3221395"/>
            <a:ext cx="6605214" cy="3844209"/>
          </a:xfrm>
          <a:custGeom>
            <a:avLst/>
            <a:gdLst/>
            <a:ahLst/>
            <a:cxnLst/>
            <a:rect r="r" b="b" t="t" l="l"/>
            <a:pathLst>
              <a:path h="3844209" w="6605214">
                <a:moveTo>
                  <a:pt x="0" y="0"/>
                </a:moveTo>
                <a:lnTo>
                  <a:pt x="6605214" y="0"/>
                </a:lnTo>
                <a:lnTo>
                  <a:pt x="6605214" y="3844210"/>
                </a:lnTo>
                <a:lnTo>
                  <a:pt x="0" y="38442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581951" y="3216996"/>
            <a:ext cx="7562049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TO</a:t>
            </a: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OL VÀ AGENT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81951" y="4229323"/>
            <a:ext cx="8153300" cy="526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ool là các công cụ mà hệ thống AI có thể sử dụng.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Ví dụ: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Search API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Database query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Calculator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Agent là thành phần giúp AI quyết định khi nào cần sử dụng tool để giải quyết vấn đề.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Agent giúp hệ thống AI trở nên linh hoạt và thông minh hơn.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363549" y="1120578"/>
            <a:ext cx="1072653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CÔNG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TY TNHH MỘT THÀNH VIÊN CÔNG NGHỆ KỸ THUẬT TIÊN PHONG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053593" cy="1028700"/>
            <a:chOff x="0" y="0"/>
            <a:chExt cx="277489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7490" cy="270933"/>
            </a:xfrm>
            <a:custGeom>
              <a:avLst/>
              <a:gdLst/>
              <a:ahLst/>
              <a:cxnLst/>
              <a:rect r="r" b="b" t="t" l="l"/>
              <a:pathLst>
                <a:path h="270933" w="277490">
                  <a:moveTo>
                    <a:pt x="0" y="0"/>
                  </a:moveTo>
                  <a:lnTo>
                    <a:pt x="277490" y="0"/>
                  </a:lnTo>
                  <a:lnTo>
                    <a:pt x="27749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7489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24305"/>
            <a:ext cx="1028700" cy="1004395"/>
            <a:chOff x="0" y="0"/>
            <a:chExt cx="270933" cy="26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479198" cy="691756"/>
          </a:xfrm>
          <a:custGeom>
            <a:avLst/>
            <a:gdLst/>
            <a:ahLst/>
            <a:cxnLst/>
            <a:rect r="r" b="b" t="t" l="l"/>
            <a:pathLst>
              <a:path h="691756" w="479198">
                <a:moveTo>
                  <a:pt x="0" y="0"/>
                </a:moveTo>
                <a:lnTo>
                  <a:pt x="479198" y="0"/>
                </a:lnTo>
                <a:lnTo>
                  <a:pt x="479198" y="691756"/>
                </a:lnTo>
                <a:lnTo>
                  <a:pt x="0" y="691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63549" y="1120578"/>
            <a:ext cx="10679921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CÔNG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TY TNHH MỘT THÀNH VIÊN CÔNG NGHỆ KỸ THUẬT TIÊN PHONG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012043" y="2447043"/>
            <a:ext cx="5392913" cy="5392913"/>
          </a:xfrm>
          <a:custGeom>
            <a:avLst/>
            <a:gdLst/>
            <a:ahLst/>
            <a:cxnLst/>
            <a:rect r="r" b="b" t="t" l="l"/>
            <a:pathLst>
              <a:path h="5392913" w="5392913">
                <a:moveTo>
                  <a:pt x="0" y="0"/>
                </a:moveTo>
                <a:lnTo>
                  <a:pt x="5392913" y="0"/>
                </a:lnTo>
                <a:lnTo>
                  <a:pt x="5392913" y="5392914"/>
                </a:lnTo>
                <a:lnTo>
                  <a:pt x="0" y="53929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144000" y="2355850"/>
            <a:ext cx="6455830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 spc="293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V</a:t>
            </a:r>
            <a:r>
              <a:rPr lang="en-US" b="true" sz="6999" spc="293" strike="noStrike" u="none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ECTOR DATABASE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0" y="4127500"/>
            <a:ext cx="7018919" cy="3946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Vect</a:t>
            </a: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or Database là hệ cơ sở dữ liệu dùng để lưu trữ embedding vector của dữ liệu.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Embedding là cách biểu diễn dữ liệu như văn bản hoặc hình ảnh dưới dạng vector số.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Vector database cho phép thực hiện semantic search, giúp tìm kiếm dữ liệu dựa trên ý nghĩa thay vì chỉ dựa trên từ khóa.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06426" y="0"/>
            <a:ext cx="2181574" cy="2130031"/>
            <a:chOff x="0" y="0"/>
            <a:chExt cx="574571" cy="5609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4571" cy="560996"/>
            </a:xfrm>
            <a:custGeom>
              <a:avLst/>
              <a:gdLst/>
              <a:ahLst/>
              <a:cxnLst/>
              <a:rect r="r" b="b" t="t" l="l"/>
              <a:pathLst>
                <a:path h="560996" w="574571">
                  <a:moveTo>
                    <a:pt x="0" y="0"/>
                  </a:moveTo>
                  <a:lnTo>
                    <a:pt x="574571" y="0"/>
                  </a:lnTo>
                  <a:lnTo>
                    <a:pt x="574571" y="560996"/>
                  </a:lnTo>
                  <a:lnTo>
                    <a:pt x="0" y="560996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74571" cy="599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282605"/>
            <a:ext cx="1028700" cy="1004395"/>
            <a:chOff x="0" y="0"/>
            <a:chExt cx="270933" cy="26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479198" cy="691756"/>
          </a:xfrm>
          <a:custGeom>
            <a:avLst/>
            <a:gdLst/>
            <a:ahLst/>
            <a:cxnLst/>
            <a:rect r="r" b="b" t="t" l="l"/>
            <a:pathLst>
              <a:path h="691756" w="479198">
                <a:moveTo>
                  <a:pt x="0" y="0"/>
                </a:moveTo>
                <a:lnTo>
                  <a:pt x="479198" y="0"/>
                </a:lnTo>
                <a:lnTo>
                  <a:pt x="479198" y="691756"/>
                </a:lnTo>
                <a:lnTo>
                  <a:pt x="0" y="691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862485" y="2564044"/>
            <a:ext cx="5264196" cy="5158912"/>
          </a:xfrm>
          <a:custGeom>
            <a:avLst/>
            <a:gdLst/>
            <a:ahLst/>
            <a:cxnLst/>
            <a:rect r="r" b="b" t="t" l="l"/>
            <a:pathLst>
              <a:path h="5158912" w="5264196">
                <a:moveTo>
                  <a:pt x="0" y="0"/>
                </a:moveTo>
                <a:lnTo>
                  <a:pt x="5264196" y="0"/>
                </a:lnTo>
                <a:lnTo>
                  <a:pt x="5264196" y="5158912"/>
                </a:lnTo>
                <a:lnTo>
                  <a:pt x="0" y="51589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192398" y="2272906"/>
            <a:ext cx="7721750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V</a:t>
            </a: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AI TRÒ VECTOR DB TRONG RAG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192398" y="4074864"/>
            <a:ext cx="7721750" cy="569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RAG (Ret</a:t>
            </a: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rieval Augmented Generation) là phương pháp kết hợp giữa: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tìm kiếm dữ liệu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mô hình ngôn ngữ lớn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Quy trình hoạt động: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User question → Vector search → Retrieve documents → LLM generate answer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Vector database giúp hệ thống tìm các tài liệu liên quan để cung cấp thông tin chính xác cho LLM.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363549" y="1120578"/>
            <a:ext cx="1072653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CÔNG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TY TNHH MỘT THÀNH VIÊN CÔNG NGHỆ KỸ THUẬT TIÊN PHONG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106426" y="0"/>
            <a:ext cx="2181574" cy="2130031"/>
            <a:chOff x="0" y="0"/>
            <a:chExt cx="574571" cy="56099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4571" cy="560996"/>
            </a:xfrm>
            <a:custGeom>
              <a:avLst/>
              <a:gdLst/>
              <a:ahLst/>
              <a:cxnLst/>
              <a:rect r="r" b="b" t="t" l="l"/>
              <a:pathLst>
                <a:path h="560996" w="574571">
                  <a:moveTo>
                    <a:pt x="0" y="0"/>
                  </a:moveTo>
                  <a:lnTo>
                    <a:pt x="574571" y="0"/>
                  </a:lnTo>
                  <a:lnTo>
                    <a:pt x="574571" y="560996"/>
                  </a:lnTo>
                  <a:lnTo>
                    <a:pt x="0" y="560996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74571" cy="5990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0" y="9282605"/>
            <a:ext cx="1028700" cy="1004395"/>
            <a:chOff x="0" y="0"/>
            <a:chExt cx="270933" cy="26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479198" cy="691756"/>
          </a:xfrm>
          <a:custGeom>
            <a:avLst/>
            <a:gdLst/>
            <a:ahLst/>
            <a:cxnLst/>
            <a:rect r="r" b="b" t="t" l="l"/>
            <a:pathLst>
              <a:path h="691756" w="479198">
                <a:moveTo>
                  <a:pt x="0" y="0"/>
                </a:moveTo>
                <a:lnTo>
                  <a:pt x="479198" y="0"/>
                </a:lnTo>
                <a:lnTo>
                  <a:pt x="479198" y="691756"/>
                </a:lnTo>
                <a:lnTo>
                  <a:pt x="0" y="691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091532" y="2525586"/>
            <a:ext cx="5888967" cy="5235827"/>
          </a:xfrm>
          <a:custGeom>
            <a:avLst/>
            <a:gdLst/>
            <a:ahLst/>
            <a:cxnLst/>
            <a:rect r="r" b="b" t="t" l="l"/>
            <a:pathLst>
              <a:path h="5235827" w="5888967">
                <a:moveTo>
                  <a:pt x="0" y="0"/>
                </a:moveTo>
                <a:lnTo>
                  <a:pt x="5888968" y="0"/>
                </a:lnTo>
                <a:lnTo>
                  <a:pt x="5888968" y="5235828"/>
                </a:lnTo>
                <a:lnTo>
                  <a:pt x="0" y="52358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2559685"/>
            <a:ext cx="9062832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CÁC VECTOR DATABA</a:t>
            </a: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SE PHỔ BIẾN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4197985"/>
            <a:ext cx="8266641" cy="526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Một</a:t>
            </a: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số vector database phổ biến hiện nay: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FAISS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ChromaDB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Pinecone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Weaviate</a:t>
            </a:r>
          </a:p>
          <a:p>
            <a:pPr algn="l">
              <a:lnSpc>
                <a:spcPts val="3499"/>
              </a:lnSpc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Mỗi hệ thống có ưu điểm riêng: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FAISS: tìm kiếm vector nhanh, chạy local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ChromaDB: tích hợp tốt với LangChain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Pinecone: dịch vụ cloud scalable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Weaviate: mạnh cho hệ thống AI lớn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363549" y="1120578"/>
            <a:ext cx="10742079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CÔNG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TY TNHH MỘT THÀNH VIÊN CÔNG NGHỆ KỸ THUẬT TIÊN PHONG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053593" cy="1028700"/>
            <a:chOff x="0" y="0"/>
            <a:chExt cx="277489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7490" cy="270933"/>
            </a:xfrm>
            <a:custGeom>
              <a:avLst/>
              <a:gdLst/>
              <a:ahLst/>
              <a:cxnLst/>
              <a:rect r="r" b="b" t="t" l="l"/>
              <a:pathLst>
                <a:path h="270933" w="277490">
                  <a:moveTo>
                    <a:pt x="0" y="0"/>
                  </a:moveTo>
                  <a:lnTo>
                    <a:pt x="277490" y="0"/>
                  </a:lnTo>
                  <a:lnTo>
                    <a:pt x="27749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7489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24305"/>
            <a:ext cx="1028700" cy="1004395"/>
            <a:chOff x="0" y="0"/>
            <a:chExt cx="270933" cy="26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479198" cy="691756"/>
          </a:xfrm>
          <a:custGeom>
            <a:avLst/>
            <a:gdLst/>
            <a:ahLst/>
            <a:cxnLst/>
            <a:rect r="r" b="b" t="t" l="l"/>
            <a:pathLst>
              <a:path h="691756" w="479198">
                <a:moveTo>
                  <a:pt x="0" y="0"/>
                </a:moveTo>
                <a:lnTo>
                  <a:pt x="479198" y="0"/>
                </a:lnTo>
                <a:lnTo>
                  <a:pt x="479198" y="691756"/>
                </a:lnTo>
                <a:lnTo>
                  <a:pt x="0" y="691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63549" y="1120578"/>
            <a:ext cx="1075761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CÔNG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TY TNHH MỘT THÀNH VIÊN CÔNG NGHỆ KỸ THUẬT TIÊN PHONG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919735" y="2442381"/>
            <a:ext cx="5402238" cy="5402238"/>
          </a:xfrm>
          <a:custGeom>
            <a:avLst/>
            <a:gdLst/>
            <a:ahLst/>
            <a:cxnLst/>
            <a:rect r="r" b="b" t="t" l="l"/>
            <a:pathLst>
              <a:path h="5402238" w="5402238">
                <a:moveTo>
                  <a:pt x="0" y="0"/>
                </a:moveTo>
                <a:lnTo>
                  <a:pt x="5402237" y="0"/>
                </a:lnTo>
                <a:lnTo>
                  <a:pt x="5402237" y="5402238"/>
                </a:lnTo>
                <a:lnTo>
                  <a:pt x="0" y="54022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256109" y="1863331"/>
            <a:ext cx="5387276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 spc="293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ỨNG DỤNG </a:t>
            </a:r>
            <a:r>
              <a:rPr lang="en-US" b="true" sz="6999" spc="293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THỰ</a:t>
            </a:r>
            <a:r>
              <a:rPr lang="en-US" b="true" sz="6999" spc="293" strike="noStrike" u="none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C TẾ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256109" y="3634981"/>
            <a:ext cx="7018919" cy="569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LangChain kết hợp với LLM và Vector Database được sử dụng trong nhiều hệ thống AI hiện đại.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Ví dụ: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Chatbot hỗ trợ khách hàng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Hệ thống hỏi đáp tài liệu nội bộ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AI knowledge base</a:t>
            </a:r>
          </a:p>
          <a:p>
            <a:pPr algn="just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Trợ lý AI cho doanh nghiệp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Mô hình kiến trúc phổ biến: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User → Application → LangChain → Vector DB → LLM → Answer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053593" cy="1028700"/>
            <a:chOff x="0" y="0"/>
            <a:chExt cx="277489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7490" cy="270933"/>
            </a:xfrm>
            <a:custGeom>
              <a:avLst/>
              <a:gdLst/>
              <a:ahLst/>
              <a:cxnLst/>
              <a:rect r="r" b="b" t="t" l="l"/>
              <a:pathLst>
                <a:path h="270933" w="277490">
                  <a:moveTo>
                    <a:pt x="0" y="0"/>
                  </a:moveTo>
                  <a:lnTo>
                    <a:pt x="277490" y="0"/>
                  </a:lnTo>
                  <a:lnTo>
                    <a:pt x="27749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7489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24305"/>
            <a:ext cx="1028700" cy="1004395"/>
            <a:chOff x="0" y="0"/>
            <a:chExt cx="270933" cy="26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479198" cy="691756"/>
          </a:xfrm>
          <a:custGeom>
            <a:avLst/>
            <a:gdLst/>
            <a:ahLst/>
            <a:cxnLst/>
            <a:rect r="r" b="b" t="t" l="l"/>
            <a:pathLst>
              <a:path h="691756" w="479198">
                <a:moveTo>
                  <a:pt x="0" y="0"/>
                </a:moveTo>
                <a:lnTo>
                  <a:pt x="479198" y="0"/>
                </a:lnTo>
                <a:lnTo>
                  <a:pt x="479198" y="691756"/>
                </a:lnTo>
                <a:lnTo>
                  <a:pt x="0" y="691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63549" y="1120578"/>
            <a:ext cx="1082347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CÔNG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TY TNHH MỘT THÀNH VIÊN CÔNG NGHỆ KỸ THUẬT TIÊN PHONG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2187027" y="2634340"/>
            <a:ext cx="4963574" cy="5018320"/>
          </a:xfrm>
          <a:custGeom>
            <a:avLst/>
            <a:gdLst/>
            <a:ahLst/>
            <a:cxnLst/>
            <a:rect r="r" b="b" t="t" l="l"/>
            <a:pathLst>
              <a:path h="5018320" w="4963574">
                <a:moveTo>
                  <a:pt x="0" y="0"/>
                </a:moveTo>
                <a:lnTo>
                  <a:pt x="4963574" y="0"/>
                </a:lnTo>
                <a:lnTo>
                  <a:pt x="4963574" y="5018320"/>
                </a:lnTo>
                <a:lnTo>
                  <a:pt x="0" y="50183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137399" y="4944383"/>
            <a:ext cx="2043654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PHONE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37399" y="6475026"/>
            <a:ext cx="2043654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ADDRESS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37399" y="5432539"/>
            <a:ext cx="3241635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0397 419 555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86294" y="4944383"/>
            <a:ext cx="1855102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EMAIL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786294" y="5432539"/>
            <a:ext cx="5152678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nhoangnghia2104@gmail.com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37399" y="6963580"/>
            <a:ext cx="5152678" cy="879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Trường Đại học Nam Cần Thơ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Khoa Công nghệ thông tin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37399" y="2993891"/>
            <a:ext cx="8441706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THÔNG TIN LIÊN HỆ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053593" cy="1028700"/>
            <a:chOff x="0" y="0"/>
            <a:chExt cx="277489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7490" cy="270933"/>
            </a:xfrm>
            <a:custGeom>
              <a:avLst/>
              <a:gdLst/>
              <a:ahLst/>
              <a:cxnLst/>
              <a:rect r="r" b="b" t="t" l="l"/>
              <a:pathLst>
                <a:path h="270933" w="277490">
                  <a:moveTo>
                    <a:pt x="0" y="0"/>
                  </a:moveTo>
                  <a:lnTo>
                    <a:pt x="277490" y="0"/>
                  </a:lnTo>
                  <a:lnTo>
                    <a:pt x="277490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6001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7489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7259300" y="24305"/>
            <a:ext cx="1028700" cy="1004395"/>
            <a:chOff x="0" y="0"/>
            <a:chExt cx="270933" cy="26453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70933" cy="264532"/>
            </a:xfrm>
            <a:custGeom>
              <a:avLst/>
              <a:gdLst/>
              <a:ahLst/>
              <a:cxnLst/>
              <a:rect r="r" b="b" t="t" l="l"/>
              <a:pathLst>
                <a:path h="264532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64532"/>
                  </a:lnTo>
                  <a:lnTo>
                    <a:pt x="0" y="264532"/>
                  </a:lnTo>
                  <a:close/>
                </a:path>
              </a:pathLst>
            </a:custGeom>
            <a:solidFill>
              <a:srgbClr val="1A1C2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70933" cy="302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28700" y="1028700"/>
            <a:ext cx="479198" cy="691756"/>
          </a:xfrm>
          <a:custGeom>
            <a:avLst/>
            <a:gdLst/>
            <a:ahLst/>
            <a:cxnLst/>
            <a:rect r="r" b="b" t="t" l="l"/>
            <a:pathLst>
              <a:path h="691756" w="479198">
                <a:moveTo>
                  <a:pt x="0" y="0"/>
                </a:moveTo>
                <a:lnTo>
                  <a:pt x="479198" y="0"/>
                </a:lnTo>
                <a:lnTo>
                  <a:pt x="479198" y="691756"/>
                </a:lnTo>
                <a:lnTo>
                  <a:pt x="0" y="691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363549" y="1120578"/>
            <a:ext cx="10850855" cy="44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CÔNG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2499" strike="noStrike" u="none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TY TNHH MỘT THÀNH VIÊN CÔNG NGHỆ KỸ THUẬT TIÊN PHONG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580578" y="2733288"/>
            <a:ext cx="4820425" cy="4820425"/>
          </a:xfrm>
          <a:custGeom>
            <a:avLst/>
            <a:gdLst/>
            <a:ahLst/>
            <a:cxnLst/>
            <a:rect r="r" b="b" t="t" l="l"/>
            <a:pathLst>
              <a:path h="4820425" w="4820425">
                <a:moveTo>
                  <a:pt x="0" y="0"/>
                </a:moveTo>
                <a:lnTo>
                  <a:pt x="4820425" y="0"/>
                </a:lnTo>
                <a:lnTo>
                  <a:pt x="4820425" y="4820424"/>
                </a:lnTo>
                <a:lnTo>
                  <a:pt x="0" y="48204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9134589" y="3641137"/>
            <a:ext cx="6572833" cy="1704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99"/>
              </a:lnSpc>
              <a:spcBef>
                <a:spcPct val="0"/>
              </a:spcBef>
            </a:pPr>
            <a:r>
              <a:rPr lang="en-US" b="true" sz="6999" spc="293">
                <a:solidFill>
                  <a:srgbClr val="1A1C20"/>
                </a:solidFill>
                <a:latin typeface="Poppins Bold"/>
                <a:ea typeface="Poppins Bold"/>
                <a:cs typeface="Poppins Bold"/>
                <a:sym typeface="Poppins Bold"/>
              </a:rPr>
              <a:t>THANKS FOR WATCHING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155082" y="6199194"/>
            <a:ext cx="8531847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1A1C20"/>
                </a:solidFill>
                <a:latin typeface="Poppins"/>
                <a:ea typeface="Poppins"/>
                <a:cs typeface="Poppins"/>
                <a:sym typeface="Poppins"/>
              </a:rPr>
              <a:t>Nguyễn Hoàng Nghĩa - DH22TIN09 -  220996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DAHDUw1yHcU</dc:identifier>
  <dcterms:modified xsi:type="dcterms:W3CDTF">2011-08-01T06:04:30Z</dcterms:modified>
  <cp:revision>1</cp:revision>
  <dc:title>LangChain &amp; Hệ sinh thái LLM</dc:title>
</cp:coreProperties>
</file>